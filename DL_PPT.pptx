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23B68-4E64-4FAF-8DAF-CDBE1B7AED82}" v="70" dt="2026-10-08T07:18:47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ersh Gupta" userId="eec4d0e9c5d5ca58" providerId="LiveId" clId="{EA731081-7F22-4E2E-A0FD-B271E47318E8}"/>
    <pc:docChg chg="undo custSel modSld">
      <pc:chgData name="Sheersh Gupta" userId="eec4d0e9c5d5ca58" providerId="LiveId" clId="{EA731081-7F22-4E2E-A0FD-B271E47318E8}" dt="2026-10-08T07:18:47.013" v="1068"/>
      <pc:docMkLst>
        <pc:docMk/>
      </pc:docMkLst>
      <pc:sldChg chg="modSp mod">
        <pc:chgData name="Sheersh Gupta" userId="eec4d0e9c5d5ca58" providerId="LiveId" clId="{EA731081-7F22-4E2E-A0FD-B271E47318E8}" dt="2026-10-06T18:14:51.862" v="12" actId="1076"/>
        <pc:sldMkLst>
          <pc:docMk/>
          <pc:sldMk cId="0" sldId="256"/>
        </pc:sldMkLst>
        <pc:spChg chg="mod">
          <ac:chgData name="Sheersh Gupta" userId="eec4d0e9c5d5ca58" providerId="LiveId" clId="{EA731081-7F22-4E2E-A0FD-B271E47318E8}" dt="2026-10-06T18:14:47.425" v="1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14:51.862" v="12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13:56.955" v="9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">
        <pc:chgData name="Sheersh Gupta" userId="eec4d0e9c5d5ca58" providerId="LiveId" clId="{EA731081-7F22-4E2E-A0FD-B271E47318E8}" dt="2026-10-07T05:32:39.221" v="876" actId="20577"/>
        <pc:sldMkLst>
          <pc:docMk/>
          <pc:sldMk cId="0" sldId="257"/>
        </pc:sldMkLst>
        <pc:spChg chg="mod">
          <ac:chgData name="Sheersh Gupta" userId="eec4d0e9c5d5ca58" providerId="LiveId" clId="{EA731081-7F22-4E2E-A0FD-B271E47318E8}" dt="2026-10-06T18:35:48.170" v="104" actId="113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Sheersh Gupta" userId="eec4d0e9c5d5ca58" providerId="LiveId" clId="{EA731081-7F22-4E2E-A0FD-B271E47318E8}" dt="2026-10-06T18:22:15.249" v="36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22:16.597" v="38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2:39.221" v="876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26:50.700" v="89" actId="10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28:34.044" v="91" actId="108"/>
          <ac:spMkLst>
            <pc:docMk/>
            <pc:sldMk cId="0" sldId="257"/>
            <ac:spMk id="14" creationId="{00000000-0000-0000-0000-000000000000}"/>
          </ac:spMkLst>
        </pc:spChg>
        <pc:spChg chg="add mod">
          <ac:chgData name="Sheersh Gupta" userId="eec4d0e9c5d5ca58" providerId="LiveId" clId="{EA731081-7F22-4E2E-A0FD-B271E47318E8}" dt="2026-10-06T18:24:14.543" v="54" actId="2711"/>
          <ac:spMkLst>
            <pc:docMk/>
            <pc:sldMk cId="0" sldId="257"/>
            <ac:spMk id="15" creationId="{D07727EB-0048-AD89-ECC7-C49688657F5F}"/>
          </ac:spMkLst>
        </pc:spChg>
        <pc:spChg chg="add mod">
          <ac:chgData name="Sheersh Gupta" userId="eec4d0e9c5d5ca58" providerId="LiveId" clId="{EA731081-7F22-4E2E-A0FD-B271E47318E8}" dt="2026-10-06T18:25:05.332" v="69" actId="2711"/>
          <ac:spMkLst>
            <pc:docMk/>
            <pc:sldMk cId="0" sldId="257"/>
            <ac:spMk id="16" creationId="{CDDA6622-4861-585F-E593-A4F9FE667865}"/>
          </ac:spMkLst>
        </pc:spChg>
        <pc:spChg chg="add mod">
          <ac:chgData name="Sheersh Gupta" userId="eec4d0e9c5d5ca58" providerId="LiveId" clId="{EA731081-7F22-4E2E-A0FD-B271E47318E8}" dt="2026-10-06T18:25:42.652" v="86" actId="2711"/>
          <ac:spMkLst>
            <pc:docMk/>
            <pc:sldMk cId="0" sldId="257"/>
            <ac:spMk id="17" creationId="{A53344DF-2CFD-FA03-3342-A422D836B115}"/>
          </ac:spMkLst>
        </pc:spChg>
      </pc:sldChg>
      <pc:sldChg chg="modSp mod modTransition">
        <pc:chgData name="Sheersh Gupta" userId="eec4d0e9c5d5ca58" providerId="LiveId" clId="{EA731081-7F22-4E2E-A0FD-B271E47318E8}" dt="2026-10-08T07:18:47.013" v="1068"/>
        <pc:sldMkLst>
          <pc:docMk/>
          <pc:sldMk cId="0" sldId="258"/>
        </pc:sldMkLst>
        <pc:spChg chg="mod">
          <ac:chgData name="Sheersh Gupta" userId="eec4d0e9c5d5ca58" providerId="LiveId" clId="{EA731081-7F22-4E2E-A0FD-B271E47318E8}" dt="2026-10-06T18:45:15.165" v="114" actId="11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41:31.062" v="105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34:49.980" v="100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34:41.016" v="99" actId="255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Sheersh Gupta" userId="eec4d0e9c5d5ca58" providerId="LiveId" clId="{EA731081-7F22-4E2E-A0FD-B271E47318E8}" dt="2026-10-06T19:45:28.094" v="466" actId="20577"/>
        <pc:sldMkLst>
          <pc:docMk/>
          <pc:sldMk cId="0" sldId="259"/>
        </pc:sldMkLst>
        <pc:spChg chg="mod">
          <ac:chgData name="Sheersh Gupta" userId="eec4d0e9c5d5ca58" providerId="LiveId" clId="{EA731081-7F22-4E2E-A0FD-B271E47318E8}" dt="2026-10-06T19:30:58.509" v="33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8:55:26.982" v="213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26:29.424" v="227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26:43.979" v="241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27:09.133" v="260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29:19.107" v="323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33:24.922" v="386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34:24.543" v="38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41:40.627" v="464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45:28.094" v="466" actId="20577"/>
          <ac:spMkLst>
            <pc:docMk/>
            <pc:sldMk cId="0" sldId="259"/>
            <ac:spMk id="25" creationId="{00000000-0000-0000-0000-000000000000}"/>
          </ac:spMkLst>
        </pc:spChg>
      </pc:sldChg>
      <pc:sldChg chg="addSp delSp modSp mod">
        <pc:chgData name="Sheersh Gupta" userId="eec4d0e9c5d5ca58" providerId="LiveId" clId="{EA731081-7F22-4E2E-A0FD-B271E47318E8}" dt="2026-10-06T19:54:34.970" v="512" actId="113"/>
        <pc:sldMkLst>
          <pc:docMk/>
          <pc:sldMk cId="0" sldId="260"/>
        </pc:sldMkLst>
        <pc:spChg chg="mod">
          <ac:chgData name="Sheersh Gupta" userId="eec4d0e9c5d5ca58" providerId="LiveId" clId="{EA731081-7F22-4E2E-A0FD-B271E47318E8}" dt="2026-10-06T19:54:34.970" v="512" actId="113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51:54.239" v="506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48:53.769" v="498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53:48.470" v="509" actId="2711"/>
          <ac:spMkLst>
            <pc:docMk/>
            <pc:sldMk cId="0" sldId="260"/>
            <ac:spMk id="10" creationId="{00000000-0000-0000-0000-000000000000}"/>
          </ac:spMkLst>
        </pc:spChg>
        <pc:graphicFrameChg chg="add del mod">
          <ac:chgData name="Sheersh Gupta" userId="eec4d0e9c5d5ca58" providerId="LiveId" clId="{EA731081-7F22-4E2E-A0FD-B271E47318E8}" dt="2026-10-06T19:49:53.028" v="503"/>
          <ac:graphicFrameMkLst>
            <pc:docMk/>
            <pc:sldMk cId="0" sldId="260"/>
            <ac:graphicFrameMk id="5" creationId="{00000000-0000-0000-0000-000000000000}"/>
          </ac:graphicFrameMkLst>
        </pc:graphicFrameChg>
      </pc:sldChg>
      <pc:sldChg chg="modSp mod">
        <pc:chgData name="Sheersh Gupta" userId="eec4d0e9c5d5ca58" providerId="LiveId" clId="{EA731081-7F22-4E2E-A0FD-B271E47318E8}" dt="2026-10-06T20:08:15.887" v="744" actId="20577"/>
        <pc:sldMkLst>
          <pc:docMk/>
          <pc:sldMk cId="0" sldId="261"/>
        </pc:sldMkLst>
        <pc:spChg chg="mod">
          <ac:chgData name="Sheersh Gupta" userId="eec4d0e9c5d5ca58" providerId="LiveId" clId="{EA731081-7F22-4E2E-A0FD-B271E47318E8}" dt="2026-10-06T19:58:28.475" v="525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59:07.789" v="532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Sheersh Gupta" userId="eec4d0e9c5d5ca58" providerId="LiveId" clId="{EA731081-7F22-4E2E-A0FD-B271E47318E8}" dt="2026-10-06T20:03:48.667" v="581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59:17.887" v="534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Sheersh Gupta" userId="eec4d0e9c5d5ca58" providerId="LiveId" clId="{EA731081-7F22-4E2E-A0FD-B271E47318E8}" dt="2026-10-06T20:07:04.998" v="683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Sheersh Gupta" userId="eec4d0e9c5d5ca58" providerId="LiveId" clId="{EA731081-7F22-4E2E-A0FD-B271E47318E8}" dt="2026-10-06T19:58:40.984" v="527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Sheersh Gupta" userId="eec4d0e9c5d5ca58" providerId="LiveId" clId="{EA731081-7F22-4E2E-A0FD-B271E47318E8}" dt="2026-10-06T20:08:15.887" v="744" actId="20577"/>
          <ac:spMkLst>
            <pc:docMk/>
            <pc:sldMk cId="0" sldId="261"/>
            <ac:spMk id="9" creationId="{00000000-0000-0000-0000-000000000000}"/>
          </ac:spMkLst>
        </pc:spChg>
        <pc:picChg chg="mod">
          <ac:chgData name="Sheersh Gupta" userId="eec4d0e9c5d5ca58" providerId="LiveId" clId="{EA731081-7F22-4E2E-A0FD-B271E47318E8}" dt="2026-10-06T20:05:46.178" v="643" actId="1036"/>
          <ac:picMkLst>
            <pc:docMk/>
            <pc:sldMk cId="0" sldId="261"/>
            <ac:picMk id="3" creationId="{00000000-0000-0000-0000-000000000000}"/>
          </ac:picMkLst>
        </pc:picChg>
      </pc:sldChg>
      <pc:sldChg chg="addSp modSp mod">
        <pc:chgData name="Sheersh Gupta" userId="eec4d0e9c5d5ca58" providerId="LiveId" clId="{EA731081-7F22-4E2E-A0FD-B271E47318E8}" dt="2026-10-07T04:57:53.287" v="804" actId="2711"/>
        <pc:sldMkLst>
          <pc:docMk/>
          <pc:sldMk cId="0" sldId="262"/>
        </pc:sldMkLst>
        <pc:spChg chg="mod">
          <ac:chgData name="Sheersh Gupta" userId="eec4d0e9c5d5ca58" providerId="LiveId" clId="{EA731081-7F22-4E2E-A0FD-B271E47318E8}" dt="2026-10-07T04:53:43.785" v="785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3:55.328" v="787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4:05.332" v="789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4:09.634" v="790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4:12.999" v="791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4:19.883" v="792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4:29.307" v="794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4:33.838" v="795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4:51.084" v="79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5:07.166" v="800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4:56.183" v="79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5:03.228" v="799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4:55:10.912" v="801" actId="1076"/>
          <ac:spMkLst>
            <pc:docMk/>
            <pc:sldMk cId="0" sldId="262"/>
            <ac:spMk id="15" creationId="{00000000-0000-0000-0000-000000000000}"/>
          </ac:spMkLst>
        </pc:spChg>
        <pc:spChg chg="add mod">
          <ac:chgData name="Sheersh Gupta" userId="eec4d0e9c5d5ca58" providerId="LiveId" clId="{EA731081-7F22-4E2E-A0FD-B271E47318E8}" dt="2026-10-07T04:57:53.287" v="804" actId="2711"/>
          <ac:spMkLst>
            <pc:docMk/>
            <pc:sldMk cId="0" sldId="262"/>
            <ac:spMk id="16" creationId="{02E4FAB0-B502-397B-A44A-DBC63A6B3BE4}"/>
          </ac:spMkLst>
        </pc:spChg>
        <pc:picChg chg="mod">
          <ac:chgData name="Sheersh Gupta" userId="eec4d0e9c5d5ca58" providerId="LiveId" clId="{EA731081-7F22-4E2E-A0FD-B271E47318E8}" dt="2026-10-07T04:53:46.817" v="786" actId="1076"/>
          <ac:picMkLst>
            <pc:docMk/>
            <pc:sldMk cId="0" sldId="262"/>
            <ac:picMk id="3" creationId="{00000000-0000-0000-0000-000000000000}"/>
          </ac:picMkLst>
        </pc:picChg>
      </pc:sldChg>
      <pc:sldChg chg="modSp mod">
        <pc:chgData name="Sheersh Gupta" userId="eec4d0e9c5d5ca58" providerId="LiveId" clId="{EA731081-7F22-4E2E-A0FD-B271E47318E8}" dt="2026-10-07T05:25:23.125" v="827" actId="20577"/>
        <pc:sldMkLst>
          <pc:docMk/>
          <pc:sldMk cId="0" sldId="263"/>
        </pc:sldMkLst>
        <pc:spChg chg="mod">
          <ac:chgData name="Sheersh Gupta" userId="eec4d0e9c5d5ca58" providerId="LiveId" clId="{EA731081-7F22-4E2E-A0FD-B271E47318E8}" dt="2026-10-06T20:10:52.525" v="772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22:25.944" v="808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22:19.383" v="8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23:18.370" v="810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25:23.125" v="827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23:58.665" v="81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23:58.665" v="812" actId="1076"/>
          <ac:spMkLst>
            <pc:docMk/>
            <pc:sldMk cId="0" sldId="263"/>
            <ac:spMk id="9" creationId="{00000000-0000-0000-0000-000000000000}"/>
          </ac:spMkLst>
        </pc:spChg>
      </pc:sldChg>
      <pc:sldChg chg="addSp delSp modSp mod">
        <pc:chgData name="Sheersh Gupta" userId="eec4d0e9c5d5ca58" providerId="LiveId" clId="{EA731081-7F22-4E2E-A0FD-B271E47318E8}" dt="2026-10-07T05:39:52.555" v="1006"/>
        <pc:sldMkLst>
          <pc:docMk/>
          <pc:sldMk cId="0" sldId="264"/>
        </pc:sldMkLst>
        <pc:spChg chg="mod">
          <ac:chgData name="Sheersh Gupta" userId="eec4d0e9c5d5ca58" providerId="LiveId" clId="{EA731081-7F22-4E2E-A0FD-B271E47318E8}" dt="2026-10-07T05:31:39.486" v="875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8:47.533" v="998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8:32.525" v="99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8:52.721" v="999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8:41.499" v="99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8:57.802" v="1000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9:29.765" v="100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9:08.033" v="1002" actId="1410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39:52.555" v="100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28:55.137" v="830" actId="207"/>
          <ac:spMkLst>
            <pc:docMk/>
            <pc:sldMk cId="0" sldId="264"/>
            <ac:spMk id="19" creationId="{00000000-0000-0000-0000-000000000000}"/>
          </ac:spMkLst>
        </pc:spChg>
        <pc:spChg chg="add del">
          <ac:chgData name="Sheersh Gupta" userId="eec4d0e9c5d5ca58" providerId="LiveId" clId="{EA731081-7F22-4E2E-A0FD-B271E47318E8}" dt="2026-10-07T05:39:26.701" v="1004" actId="22"/>
          <ac:spMkLst>
            <pc:docMk/>
            <pc:sldMk cId="0" sldId="264"/>
            <ac:spMk id="21" creationId="{41967B5B-EB3A-856E-B9C6-ABEEFEF90EF9}"/>
          </ac:spMkLst>
        </pc:spChg>
      </pc:sldChg>
      <pc:sldChg chg="modSp mod">
        <pc:chgData name="Sheersh Gupta" userId="eec4d0e9c5d5ca58" providerId="LiveId" clId="{EA731081-7F22-4E2E-A0FD-B271E47318E8}" dt="2026-10-07T05:52:23.108" v="1060" actId="115"/>
        <pc:sldMkLst>
          <pc:docMk/>
          <pc:sldMk cId="0" sldId="265"/>
        </pc:sldMkLst>
        <pc:spChg chg="mod">
          <ac:chgData name="Sheersh Gupta" userId="eec4d0e9c5d5ca58" providerId="LiveId" clId="{EA731081-7F22-4E2E-A0FD-B271E47318E8}" dt="2026-10-07T05:41:09.201" v="1009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43:44.875" v="1031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45:32.462" v="1039" actId="11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51:28.062" v="1054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heersh Gupta" userId="eec4d0e9c5d5ca58" providerId="LiveId" clId="{EA731081-7F22-4E2E-A0FD-B271E47318E8}" dt="2026-10-07T05:52:23.108" v="1060" actId="115"/>
          <ac:spMkLst>
            <pc:docMk/>
            <pc:sldMk cId="0" sldId="265"/>
            <ac:spMk id="1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2"/>
                </a:solidFill>
                <a:latin typeface="Arial"/>
              </a:defRPr>
            </a:pPr>
            <a:r>
              <a:rPr lang="en-IN" sz="1400" b="0" i="0" u="none" strike="noStrike" dirty="0">
                <a:solidFill>
                  <a:srgbClr val="1E2A22"/>
                </a:solidFill>
                <a:latin typeface="Arial"/>
              </a:rPr>
              <a:t>Images per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3E8E5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A1-4FE7-9466-DD949C6C06CA}"/>
              </c:ext>
            </c:extLst>
          </c:dPt>
          <c:dPt>
            <c:idx val="1"/>
            <c:invertIfNegative val="0"/>
            <c:bubble3D val="0"/>
            <c:spPr>
              <a:solidFill>
                <a:srgbClr val="E0A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A1-4FE7-9466-DD949C6C06CA}"/>
              </c:ext>
            </c:extLst>
          </c:dPt>
          <c:dPt>
            <c:idx val="2"/>
            <c:invertIfNegative val="0"/>
            <c:bubble3D val="0"/>
            <c:spPr>
              <a:solidFill>
                <a:srgbClr val="B83A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A1-4FE7-9466-DD949C6C06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Early Blight</c:v>
                </c:pt>
                <c:pt idx="2">
                  <c:v>Late Blight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1591</c:v>
                </c:pt>
                <c:pt idx="1">
                  <c:v>1000</c:v>
                </c:pt>
                <c:pt idx="2">
                  <c:v>1909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A1-4FE7-9466-DD949C6C06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6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majorGridlines>
          <c:spPr>
            <a:ln w="6350" cap="flat">
              <a:solidFill>
                <a:srgbClr val="DCE5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2F6B3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A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92.7</c:v>
                </c:pt>
                <c:pt idx="1">
                  <c:v>92.88</c:v>
                </c:pt>
                <c:pt idx="2">
                  <c:v>92.7</c:v>
                </c:pt>
                <c:pt idx="3">
                  <c:v>92.75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4D-43E9-9DB6-329E574A2C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Augmented</c:v>
                </c:pt>
              </c:strCache>
            </c:strRef>
          </c:tx>
          <c:spPr>
            <a:solidFill>
              <a:srgbClr val="D9442B"/>
            </a:solidFill>
            <a:effectLst/>
          </c:spPr>
          <c:invertIfNegative val="0"/>
          <c:dLbls>
            <c:dLbl>
              <c:idx val="0"/>
              <c:layout>
                <c:manualLayout>
                  <c:x val="1.5432098765432098E-2"/>
                  <c:y val="1.11111111111110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94D-43E9-9DB6-329E574A2C43}"/>
                </c:ext>
              </c:extLst>
            </c:dLbl>
            <c:dLbl>
              <c:idx val="1"/>
              <c:layout>
                <c:manualLayout>
                  <c:x val="2.3148148148148147E-2"/>
                  <c:y val="-5.55555555555558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4D-43E9-9DB6-329E574A2C43}"/>
                </c:ext>
              </c:extLst>
            </c:dLbl>
            <c:dLbl>
              <c:idx val="2"/>
              <c:layout>
                <c:manualLayout>
                  <c:x val="2.8292181069958847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94D-43E9-9DB6-329E574A2C43}"/>
                </c:ext>
              </c:extLst>
            </c:dLbl>
            <c:dLbl>
              <c:idx val="3"/>
              <c:layout>
                <c:manualLayout>
                  <c:x val="2.0576131687242798E-2"/>
                  <c:y val="-2.546266881603998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4D-43E9-9DB6-329E574A2C43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A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92.04</c:v>
                </c:pt>
                <c:pt idx="1">
                  <c:v>92.18</c:v>
                </c:pt>
                <c:pt idx="2">
                  <c:v>92.04</c:v>
                </c:pt>
                <c:pt idx="3">
                  <c:v>91.95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4D-43E9-9DB6-329E574A2C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6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4"/>
          <c:min val="88"/>
        </c:scaling>
        <c:delete val="0"/>
        <c:axPos val="l"/>
        <c:majorGridlines>
          <c:spPr>
            <a:ln w="6350" cap="flat">
              <a:solidFill>
                <a:srgbClr val="DCE5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6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E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67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14301F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af-0"/>
          <p:cNvSpPr/>
          <p:nvPr/>
        </p:nvSpPr>
        <p:spPr>
          <a:xfrm>
            <a:off x="6035040" y="914400"/>
            <a:ext cx="1737360" cy="1737360"/>
          </a:xfrm>
          <a:prstGeom prst="ellipse">
            <a:avLst/>
          </a:prstGeom>
          <a:solidFill>
            <a:srgbClr val="3E8E55">
              <a:alpha val="85000"/>
            </a:srgbClr>
          </a:solidFill>
          <a:ln w="12700">
            <a:solidFill>
              <a:srgbClr val="3E8E55"/>
            </a:solidFill>
            <a:prstDash val="solid"/>
          </a:ln>
        </p:spPr>
      </p:sp>
      <p:sp>
        <p:nvSpPr>
          <p:cNvPr id="3" name="leaf-1"/>
          <p:cNvSpPr/>
          <p:nvPr/>
        </p:nvSpPr>
        <p:spPr>
          <a:xfrm>
            <a:off x="6949440" y="914400"/>
            <a:ext cx="1737360" cy="1737360"/>
          </a:xfrm>
          <a:prstGeom prst="ellipse">
            <a:avLst/>
          </a:prstGeom>
          <a:solidFill>
            <a:srgbClr val="E0A030">
              <a:alpha val="85000"/>
            </a:srgbClr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4" name="leaf-2"/>
          <p:cNvSpPr/>
          <p:nvPr/>
        </p:nvSpPr>
        <p:spPr>
          <a:xfrm>
            <a:off x="6492240" y="1737360"/>
            <a:ext cx="1737360" cy="1737360"/>
          </a:xfrm>
          <a:prstGeom prst="ellipse">
            <a:avLst/>
          </a:prstGeom>
          <a:solidFill>
            <a:srgbClr val="B83A2A">
              <a:alpha val="85000"/>
            </a:srgbClr>
          </a:solidFill>
          <a:ln w="12700">
            <a:solidFill>
              <a:srgbClr val="B83A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8A3"/>
                </a:solidFill>
              </a:rPr>
              <a:t>Healthy  ·  Early Blight  ·  Late Blight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Rounded MT Bold" panose="020F0704030504030204" pitchFamily="34" charset="0"/>
                <a:ea typeface="Cambria" pitchFamily="34" charset="-122"/>
                <a:cs typeface="Cambria" pitchFamily="34" charset="-120"/>
              </a:rPr>
              <a:t>Tomato Leaf Disease Classification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93167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8DCCB"/>
                </a:solidFill>
              </a:rPr>
              <a:t>A from-scratch CNN for detecting Early Blight and Late Blight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B8A3"/>
                </a:solidFill>
              </a:rPr>
              <a:t>Presented by: Sheersh Gupta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0" u="sng" dirty="0">
                <a:solidFill>
                  <a:srgbClr val="14301F"/>
                </a:solidFill>
                <a:latin typeface="Arial Rounded MT Bold" panose="020F0704030504030204" pitchFamily="34" charset="0"/>
              </a:rPr>
              <a:t>Preface &amp; Objective</a:t>
            </a:r>
            <a:endParaRPr lang="en-US" sz="2800" b="0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2F6B3F"/>
          </a:solidFill>
          <a:ln w="12700">
            <a:solidFill>
              <a:srgbClr val="2F6B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IN" sz="1400" dirty="0"/>
              <a:t>Manual identification of tomato leaf diseases can be time-consuming and prone to misclassification. 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09728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rgbClr val="2F6B3F"/>
          </a:solidFill>
          <a:ln w="12700">
            <a:solidFill>
              <a:srgbClr val="2F6B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288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/>
              <a:t>To develop a CNN-based model for classifying tomato leaves into Healthy, Early Blight, and Late Blight categories, and compare baseline and augmented training approaches.</a:t>
            </a:r>
          </a:p>
        </p:txBody>
      </p:sp>
      <p:sp>
        <p:nvSpPr>
          <p:cNvPr id="11" name="card"/>
          <p:cNvSpPr/>
          <p:nvPr/>
        </p:nvSpPr>
        <p:spPr>
          <a:xfrm>
            <a:off x="6126480" y="109728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280160"/>
            <a:ext cx="411480" cy="411480"/>
          </a:xfrm>
          <a:prstGeom prst="ellipse">
            <a:avLst/>
          </a:prstGeom>
          <a:solidFill>
            <a:srgbClr val="2F6B3F"/>
          </a:solidFill>
          <a:ln w="12700">
            <a:solidFill>
              <a:srgbClr val="2F6B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288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/>
              <a:t>The project focuses on classifying tomato leaf images into three categories—Healthy, Early Blight, and Late Blight using CNN-based image classification.</a:t>
            </a:r>
            <a:br>
              <a:rPr lang="en-IN" sz="1400" dirty="0"/>
            </a:br>
            <a:r>
              <a:rPr lang="en-IN" sz="1400" dirty="0"/>
              <a:t>It also evaluates the effect of data augmentation by comparing a baseline CNN with an augmented CNN.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7727EB-0048-AD89-ECC7-C49688657F5F}"/>
              </a:ext>
            </a:extLst>
          </p:cNvPr>
          <p:cNvSpPr txBox="1"/>
          <p:nvPr/>
        </p:nvSpPr>
        <p:spPr>
          <a:xfrm>
            <a:off x="1058594" y="1301234"/>
            <a:ext cx="151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DA6622-4861-585F-E593-A4F9FE667865}"/>
              </a:ext>
            </a:extLst>
          </p:cNvPr>
          <p:cNvSpPr txBox="1"/>
          <p:nvPr/>
        </p:nvSpPr>
        <p:spPr>
          <a:xfrm>
            <a:off x="3974123" y="1301234"/>
            <a:ext cx="142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Arial Rounded MT Bold" panose="020F0704030504030204" pitchFamily="34" charset="0"/>
              </a:rPr>
              <a:t>Objective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3344DF-2CFD-FA03-3342-A422D836B115}"/>
              </a:ext>
            </a:extLst>
          </p:cNvPr>
          <p:cNvSpPr txBox="1"/>
          <p:nvPr/>
        </p:nvSpPr>
        <p:spPr>
          <a:xfrm>
            <a:off x="6787662" y="1301234"/>
            <a:ext cx="1477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0" u="sng" dirty="0">
                <a:solidFill>
                  <a:srgbClr val="14301F"/>
                </a:solidFill>
                <a:latin typeface="Arial Rounded MT Bold" panose="020F0704030504030204" pitchFamily="34" charset="0"/>
              </a:rPr>
              <a:t>Dataset</a:t>
            </a:r>
            <a:r>
              <a:rPr lang="en-US" sz="3000" b="0" dirty="0">
                <a:solidFill>
                  <a:srgbClr val="14301F"/>
                </a:solidFill>
                <a:latin typeface="Arial Rounded MT Bold" panose="020F0704030504030204" pitchFamily="34" charset="0"/>
              </a:rPr>
              <a:t>: PlantVillage Tomato Subset</a:t>
            </a:r>
            <a:endParaRPr lang="en-US" sz="3000" b="0" dirty="0">
              <a:latin typeface="Arial Rounded MT Bold" panose="020F0704030504030204" pitchFamily="34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47548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graphicFrame>
        <p:nvGraphicFramePr>
          <p:cNvPr id="4" name="class-chart"/>
          <p:cNvGraphicFramePr/>
          <p:nvPr/>
        </p:nvGraphicFramePr>
        <p:xfrm>
          <a:off x="548640" y="1143000"/>
          <a:ext cx="4572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/>
          <p:cNvSpPr/>
          <p:nvPr/>
        </p:nvSpPr>
        <p:spPr>
          <a:xfrm>
            <a:off x="5486400" y="10515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161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F6B3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4,500</a:t>
            </a:r>
            <a:endParaRPr 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669280" y="1673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2"/>
                </a:solidFill>
              </a:rPr>
              <a:t>images across 3 classes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0" y="228600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F6B3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80 / 10 / 10</a:t>
            </a:r>
            <a:endParaRPr 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669280" y="29077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2"/>
                </a:solidFill>
              </a:rPr>
              <a:t>train / validation / test split (seed 42)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0" y="352044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0" y="3630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F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r>
              <a:rPr lang="en-US" sz="2400" b="1" dirty="0">
                <a:solidFill>
                  <a:srgbClr val="2F6B3F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22%</a:t>
            </a:r>
            <a:endParaRPr 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669280" y="4142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2"/>
                </a:solidFill>
              </a:rPr>
              <a:t>Early Blight share: the minority class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0" u="sng" dirty="0">
                <a:solidFill>
                  <a:srgbClr val="14301F"/>
                </a:solidFill>
                <a:latin typeface="Arial Rounded MT Bold" panose="020F0704030504030204" pitchFamily="34" charset="0"/>
              </a:rPr>
              <a:t>Model Architecture &amp; Experiment Setup</a:t>
            </a:r>
            <a:endParaRPr lang="en-US" sz="3000" b="0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block-0"/>
          <p:cNvSpPr/>
          <p:nvPr/>
        </p:nvSpPr>
        <p:spPr>
          <a:xfrm>
            <a:off x="457200" y="10972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14301F"/>
          </a:solidFill>
          <a:ln w="12700">
            <a:solidFill>
              <a:srgbClr val="1430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Input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(128×128×3)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6B62"/>
                </a:solidFill>
              </a:rPr>
              <a:t>›</a:t>
            </a:r>
            <a:endParaRPr lang="en-US" sz="2200" dirty="0"/>
          </a:p>
        </p:txBody>
      </p:sp>
      <p:sp>
        <p:nvSpPr>
          <p:cNvPr id="6" name="block-1"/>
          <p:cNvSpPr/>
          <p:nvPr/>
        </p:nvSpPr>
        <p:spPr>
          <a:xfrm>
            <a:off x="1828800" y="10972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E3EEE0"/>
          </a:solidFill>
          <a:ln w="12700">
            <a:solidFill>
              <a:srgbClr val="DCE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Conv Block 1: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32 filters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ReLU + MaxPool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6B62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block-2"/>
          <p:cNvSpPr/>
          <p:nvPr/>
        </p:nvSpPr>
        <p:spPr>
          <a:xfrm>
            <a:off x="3200400" y="10972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E3EEE0"/>
          </a:solidFill>
          <a:ln w="12700">
            <a:solidFill>
              <a:srgbClr val="DCE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Conv Block 2: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64 filters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ReLU + MaxPool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6B62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block-3"/>
          <p:cNvSpPr/>
          <p:nvPr/>
        </p:nvSpPr>
        <p:spPr>
          <a:xfrm>
            <a:off x="4572000" y="10972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E3EEE0"/>
          </a:solidFill>
          <a:ln w="12700">
            <a:solidFill>
              <a:srgbClr val="DCE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Flatten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6B62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block-4"/>
          <p:cNvSpPr/>
          <p:nvPr/>
        </p:nvSpPr>
        <p:spPr>
          <a:xfrm>
            <a:off x="5943600" y="10972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E3EEE0"/>
          </a:solidFill>
          <a:ln w="12700">
            <a:solidFill>
              <a:srgbClr val="DCE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Dense Layer: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128 Neurons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A22"/>
                </a:solidFill>
              </a:rPr>
              <a:t>ReLU + Dropout 0.5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6B62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block-5"/>
          <p:cNvSpPr/>
          <p:nvPr/>
        </p:nvSpPr>
        <p:spPr>
          <a:xfrm>
            <a:off x="7315200" y="109728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14301F"/>
          </a:solidFill>
          <a:ln w="12700">
            <a:solidFill>
              <a:srgbClr val="143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3-classes + </a:t>
            </a:r>
            <a:r>
              <a:rPr lang="en-US" sz="1200" dirty="0" err="1">
                <a:solidFill>
                  <a:srgbClr val="FFFFFF"/>
                </a:solidFill>
              </a:rPr>
              <a:t>Softmax</a:t>
            </a:r>
            <a:r>
              <a:rPr lang="en-US" sz="1200" dirty="0">
                <a:solidFill>
                  <a:srgbClr val="FFFFFF"/>
                </a:solidFill>
              </a:rPr>
              <a:t> Function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57200" y="23774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560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6B3F"/>
                </a:solidFill>
              </a:rPr>
              <a:t>Baseline CNN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A22"/>
                </a:solidFill>
              </a:rPr>
              <a:t>Trained on the original training images without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A22"/>
                </a:solidFill>
              </a:rPr>
              <a:t>augmentation.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663440" y="23774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560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9442B"/>
                </a:solidFill>
              </a:rPr>
              <a:t>CNN + Augmentation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IN" sz="1400" dirty="0"/>
              <a:t>Same architecture and training setup, with random transformations applied to training images</a:t>
            </a:r>
            <a:r>
              <a:rPr lang="en-US" sz="1400" dirty="0">
                <a:solidFill>
                  <a:srgbClr val="1E2A22"/>
                </a:solidFill>
              </a:rPr>
              <a:t>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Setup: </a:t>
            </a:r>
            <a:r>
              <a:rPr lang="en-US" sz="1400" dirty="0">
                <a:solidFill>
                  <a:srgbClr val="5E6B62"/>
                </a:solidFill>
              </a:rPr>
              <a:t>Adam · categorical cross-entropy · early stopping (patience 3, max 20 epochs) · 80/10/10 split, seed 42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1600" b="1" dirty="0">
                <a:solidFill>
                  <a:schemeClr val="tx2"/>
                </a:solidFill>
              </a:rPr>
              <a:t>Controlled experiment: Augmentation is the only variable changed between the two runs.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0" u="sng" dirty="0">
                <a:solidFill>
                  <a:srgbClr val="14301F"/>
                </a:solidFill>
                <a:latin typeface="Arial Rounded MT Bold" panose="020F0704030504030204" pitchFamily="34" charset="0"/>
              </a:rPr>
              <a:t>Results: Evaluation Metrics</a:t>
            </a:r>
            <a:endParaRPr lang="en-US" sz="3000" b="0" u="sng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6" name="metr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A22"/>
                          </a:solidFill>
                        </a:rPr>
                        <a:t>Baseline CNN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22"/>
                          </a:solidFill>
                        </a:rPr>
                        <a:t>92.70%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22"/>
                          </a:solidFill>
                        </a:rPr>
                        <a:t>0.929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22"/>
                          </a:solidFill>
                        </a:rPr>
                        <a:t>0.927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22"/>
                          </a:solidFill>
                        </a:rPr>
                        <a:t>0.928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A22"/>
                          </a:solidFill>
                        </a:rPr>
                        <a:t>CNN + Augmentation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22"/>
                          </a:solidFill>
                        </a:rPr>
                        <a:t>92.04%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22"/>
                          </a:solidFill>
                        </a:rPr>
                        <a:t>0.922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22"/>
                          </a:solidFill>
                        </a:rPr>
                        <a:t>0.920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22"/>
                          </a:solidFill>
                        </a:rPr>
                        <a:t>0.920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228600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graphicFrame>
        <p:nvGraphicFramePr>
          <p:cNvPr id="5" name="metrics-chart"/>
          <p:cNvGraphicFramePr/>
          <p:nvPr>
            <p:extLst>
              <p:ext uri="{D42A27DB-BD31-4B8C-83A1-F6EECF244321}">
                <p14:modId xmlns:p14="http://schemas.microsoft.com/office/powerpoint/2010/main" val="2246210982"/>
              </p:ext>
            </p:extLst>
          </p:nvPr>
        </p:nvGraphicFramePr>
        <p:xfrm>
          <a:off x="548640" y="2377440"/>
          <a:ext cx="49377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ard"/>
          <p:cNvSpPr/>
          <p:nvPr/>
        </p:nvSpPr>
        <p:spPr>
          <a:xfrm>
            <a:off x="5852160" y="233172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03504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452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28117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dirty="0"/>
              <a:t>The accuracy difference corresponds to approximately </a:t>
            </a:r>
            <a:r>
              <a:rPr lang="en-IN" sz="1200" b="1" dirty="0"/>
              <a:t>3 test images</a:t>
            </a:r>
            <a:r>
              <a:rPr lang="en-IN" sz="1200" dirty="0"/>
              <a:t>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852160" y="356616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0" y="3645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000" dirty="0">
                <a:solidFill>
                  <a:srgbClr val="C00000"/>
                </a:solidFill>
                <a:latin typeface="+mj-lt"/>
              </a:rPr>
              <a:t>Small Performance Gap</a:t>
            </a:r>
            <a:endParaRPr lang="en-US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603504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22"/>
                </a:solidFill>
              </a:rPr>
              <a:t>One run per model, so a gap this small is not conclusive evidence either 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0" u="sng" dirty="0">
                <a:solidFill>
                  <a:srgbClr val="14301F"/>
                </a:solidFill>
                <a:latin typeface="Arial Rounded MT Bold" panose="020F0704030504030204" pitchFamily="34" charset="0"/>
              </a:rPr>
              <a:t>Training Dynamics</a:t>
            </a:r>
            <a:endParaRPr lang="en-US" sz="3000" b="0" u="sng" dirty="0">
              <a:latin typeface="Arial Rounded MT Bold" panose="020F0704030504030204" pitchFamily="34" charset="0"/>
            </a:endParaRPr>
          </a:p>
        </p:txBody>
      </p:sp>
      <p:pic>
        <p:nvPicPr>
          <p:cNvPr id="3" name="training-curves" descr="/mnt/user-data/uploads/train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847344"/>
            <a:ext cx="7315200" cy="2441448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457200" y="3494532"/>
            <a:ext cx="2560320" cy="137007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3494532"/>
            <a:ext cx="2331720" cy="137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6B3F"/>
                </a:solidFill>
              </a:rPr>
              <a:t>Baseline: smooth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A22"/>
                </a:solidFill>
              </a:rPr>
              <a:t>Stopped at 8 epochs. Validation loss fell to 0.146 and val accuracy peaked at 94.4%. 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3494532"/>
            <a:ext cx="2560320" cy="137007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29000" y="3538728"/>
            <a:ext cx="2331720" cy="132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9442B"/>
                </a:solidFill>
              </a:rPr>
              <a:t>Augmented: More Variable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A22"/>
                </a:solidFill>
              </a:rPr>
              <a:t>Ran 11 epochs. Validation accuracy ranged from 75.2% and 92.2%.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26480" y="3494532"/>
            <a:ext cx="2560320" cy="1373124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349453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01F"/>
                </a:solidFill>
              </a:rPr>
              <a:t>Slower start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IN" sz="1400" dirty="0"/>
              <a:t>Validation accuracy after 1</a:t>
            </a:r>
            <a:r>
              <a:rPr lang="en-IN" sz="1400" baseline="30000" dirty="0"/>
              <a:t>st</a:t>
            </a:r>
            <a:r>
              <a:rPr lang="en-IN" sz="1400" dirty="0"/>
              <a:t> epoch: 75%  vs 88% showing a slower initial learning trend.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036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0" dirty="0">
                <a:solidFill>
                  <a:srgbClr val="14301F"/>
                </a:solidFill>
                <a:latin typeface="Arial Rounded MT Bold" panose="020F0704030504030204" pitchFamily="34" charset="0"/>
              </a:rPr>
              <a:t>Where the Augmented Model Makes Errors</a:t>
            </a:r>
            <a:endParaRPr lang="en-US" sz="3000" b="0" dirty="0">
              <a:latin typeface="Arial Rounded MT Bold" panose="020F0704030504030204" pitchFamily="34" charset="0"/>
            </a:endParaRPr>
          </a:p>
        </p:txBody>
      </p:sp>
      <p:pic>
        <p:nvPicPr>
          <p:cNvPr id="3" name="confusion-matrix" descr="/mnt/user-data/upload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43712"/>
            <a:ext cx="4754880" cy="356616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0" y="758952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0" y="880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A22"/>
                </a:solidFill>
              </a:rPr>
              <a:t>Healthy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1902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E8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/ 160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584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2"/>
                </a:solidFill>
              </a:rPr>
              <a:t>100% recall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0" y="2005584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2127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A22"/>
                </a:solidFill>
              </a:rPr>
              <a:t>Late Blight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4170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B83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 / 192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2770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2"/>
                </a:solidFill>
              </a:rPr>
              <a:t>88.5% recall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0" y="3255264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3410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A22"/>
                </a:solidFill>
              </a:rPr>
              <a:t>Early Blight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3657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56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/ 100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40309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B62"/>
                </a:solidFill>
              </a:rPr>
              <a:t>86.0% recall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E4FAB0-B502-397B-A44A-DBC63A6B3BE4}"/>
              </a:ext>
            </a:extLst>
          </p:cNvPr>
          <p:cNvSpPr txBox="1"/>
          <p:nvPr/>
        </p:nvSpPr>
        <p:spPr>
          <a:xfrm>
            <a:off x="548640" y="441198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Most errors occur between the two disease classes, while Healthy leaves are classified correctly.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0" u="sng" dirty="0">
                <a:solidFill>
                  <a:srgbClr val="14301F"/>
                </a:solidFill>
                <a:latin typeface="Arial Rounded MT Bold" panose="020F0704030504030204" pitchFamily="34" charset="0"/>
              </a:rPr>
              <a:t>Error Analysis</a:t>
            </a:r>
            <a:r>
              <a:rPr lang="en-US" sz="3000" b="1" dirty="0">
                <a:solidFill>
                  <a:srgbClr val="14301F"/>
                </a:solidFill>
                <a:latin typeface="Arial Rounded MT Bold" panose="020F0704030504030204" pitchFamily="34" charset="0"/>
              </a:rPr>
              <a:t>: </a:t>
            </a:r>
            <a:r>
              <a:rPr lang="en-US" sz="3000" b="0" dirty="0">
                <a:solidFill>
                  <a:srgbClr val="14301F"/>
                </a:solidFill>
                <a:latin typeface="Arial Rounded MT Bold" panose="020F0704030504030204" pitchFamily="34" charset="0"/>
              </a:rPr>
              <a:t>Misclassified Leaves</a:t>
            </a:r>
            <a:endParaRPr lang="en-US" sz="3000" b="0" dirty="0">
              <a:latin typeface="Arial Rounded MT Bold" panose="020F0704030504030204" pitchFamily="34" charset="0"/>
            </a:endParaRPr>
          </a:p>
        </p:txBody>
      </p:sp>
      <p:pic>
        <p:nvPicPr>
          <p:cNvPr id="3" name="misclassified" descr="/mnt/user-data/uploads/misclassified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118872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457200" y="2423160"/>
            <a:ext cx="4023360" cy="12344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560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01F"/>
                </a:solidFill>
              </a:rPr>
              <a:t>Early Blight → Late Blight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IN" sz="1400" dirty="0"/>
              <a:t>Similar dark lesions cause confusion between the two disease classes.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2423160"/>
            <a:ext cx="4023360" cy="1188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2560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01F"/>
                </a:solidFill>
              </a:rPr>
              <a:t>Early Blight → Healthy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IN" sz="1400" dirty="0"/>
              <a:t>Small or less-distinctive lesions are difficult to detect.</a:t>
            </a:r>
            <a:endParaRPr lang="en-US" sz="1400" dirty="0"/>
          </a:p>
        </p:txBody>
      </p:sp>
      <p:sp>
        <p:nvSpPr>
          <p:cNvPr id="8" name="callout"/>
          <p:cNvSpPr/>
          <p:nvPr/>
        </p:nvSpPr>
        <p:spPr>
          <a:xfrm>
            <a:off x="457200" y="3925824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D9442B"/>
          </a:solidFill>
          <a:ln w="12700">
            <a:solidFill>
              <a:srgbClr val="D944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92582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Key Observation:</a:t>
            </a:r>
            <a:r>
              <a:rPr lang="en-IN" sz="1600" dirty="0">
                <a:solidFill>
                  <a:schemeClr val="bg2"/>
                </a:solidFill>
              </a:rPr>
              <a:t> Most shown errors occur when disease symptoms are visually similar or subtle</a:t>
            </a:r>
            <a:r>
              <a:rPr lang="en-IN" sz="1600" dirty="0"/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0" dirty="0">
                <a:latin typeface="Arial Rounded MT Bold" panose="020F0704030504030204" pitchFamily="34" charset="0"/>
              </a:rPr>
              <a:t>Why Augmentation Did Not Improve Results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4023360" cy="13944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2F6B3F"/>
          </a:solidFill>
          <a:ln w="12700">
            <a:solidFill>
              <a:srgbClr val="2F6B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01F"/>
                </a:solidFill>
              </a:rPr>
              <a:t>Limited Overfitting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IN" sz="1400" dirty="0"/>
              <a:t>Baseline validation accuracy already reached </a:t>
            </a:r>
            <a:r>
              <a:rPr lang="en-IN" sz="1400" b="1" dirty="0"/>
              <a:t>93–94%</a:t>
            </a:r>
            <a:r>
              <a:rPr lang="en-IN" sz="1400" dirty="0"/>
              <a:t>, leaving limited room for improvement.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051560"/>
            <a:ext cx="4023360" cy="13944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D9442B"/>
          </a:solidFill>
          <a:ln w="12700">
            <a:solidFill>
              <a:srgbClr val="D944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188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01F"/>
                </a:solidFill>
              </a:rPr>
              <a:t>Similar Data Distribution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IN" sz="1400" dirty="0"/>
              <a:t>Random splits may contain visually similar images in both training and test sets.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2F6B3F"/>
          </a:solidFill>
          <a:ln w="12700">
            <a:solidFill>
              <a:srgbClr val="2F6B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01F"/>
                </a:solidFill>
              </a:rPr>
              <a:t>More Variable Training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IN" sz="1400" dirty="0"/>
              <a:t>Augmentation produced a slower, more fluctuating validation-accuracy curve.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880360"/>
            <a:ext cx="411480" cy="411480"/>
          </a:xfrm>
          <a:prstGeom prst="ellipse">
            <a:avLst/>
          </a:prstGeom>
          <a:solidFill>
            <a:srgbClr val="D9442B"/>
          </a:solidFill>
          <a:ln w="12700">
            <a:solidFill>
              <a:srgbClr val="D944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4301F"/>
                </a:solidFill>
              </a:rPr>
              <a:t>Subtle Disease Features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IN" sz="1400" dirty="0"/>
              <a:t>Transformations may alter small visual cues important for detecting early-stage symptoms.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i="1" dirty="0">
                <a:solidFill>
                  <a:schemeClr val="bg1">
                    <a:lumMod val="65000"/>
                  </a:schemeClr>
                </a:solidFill>
              </a:rPr>
              <a:t>These are hypotheses consistent with the observed results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0" u="sng" dirty="0">
                <a:solidFill>
                  <a:srgbClr val="FFFFFF"/>
                </a:solidFill>
                <a:latin typeface="Arial Rounded MT Bold" panose="020F0704030504030204" pitchFamily="34" charset="0"/>
              </a:rPr>
              <a:t>Conclusion</a:t>
            </a:r>
            <a:endParaRPr lang="en-US" sz="3000" b="0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takeaway-0"/>
          <p:cNvSpPr/>
          <p:nvPr/>
        </p:nvSpPr>
        <p:spPr>
          <a:xfrm>
            <a:off x="457200" y="10972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F4630"/>
          </a:solidFill>
          <a:ln w="9525">
            <a:solidFill>
              <a:srgbClr val="2F6B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D9442B"/>
          </a:solidFill>
          <a:ln w="12700">
            <a:solidFill>
              <a:srgbClr val="D944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25780" y="173736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IN" sz="1600" b="1" u="sng" dirty="0">
                <a:solidFill>
                  <a:schemeClr val="bg1"/>
                </a:solidFill>
              </a:rPr>
              <a:t>Comparable Performance: </a:t>
            </a:r>
            <a:r>
              <a:rPr lang="en-IN" sz="1400" b="1" dirty="0">
                <a:solidFill>
                  <a:schemeClr val="bg1"/>
                </a:solidFill>
              </a:rPr>
              <a:t>Baseline CNN: 92.70%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b="1" dirty="0">
                <a:solidFill>
                  <a:schemeClr val="bg1"/>
                </a:solidFill>
              </a:rPr>
              <a:t>CNN + Augmentation: 92.04%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Augmentation did not improve the measured test performance.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akeaway-1"/>
          <p:cNvSpPr/>
          <p:nvPr/>
        </p:nvSpPr>
        <p:spPr>
          <a:xfrm>
            <a:off x="3291840" y="10972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F4630"/>
          </a:solidFill>
          <a:ln w="9525">
            <a:solidFill>
              <a:srgbClr val="2F6B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rgbClr val="D9442B"/>
          </a:solidFill>
          <a:ln w="12700">
            <a:solidFill>
              <a:srgbClr val="D944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71450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IN" sz="1600" b="1" u="sng" dirty="0">
                <a:solidFill>
                  <a:schemeClr val="bg1"/>
                </a:solidFill>
              </a:rPr>
              <a:t>Main Classification Challenge: </a:t>
            </a:r>
            <a:r>
              <a:rPr lang="en-IN" sz="1400" b="1" dirty="0">
                <a:solidFill>
                  <a:schemeClr val="bg1"/>
                </a:solidFill>
              </a:rPr>
              <a:t>Early Blight achieved the lowest recall (86.0%).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Most errors occurred between disease classes and subtle disease cases.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akeaway-2"/>
          <p:cNvSpPr/>
          <p:nvPr/>
        </p:nvSpPr>
        <p:spPr>
          <a:xfrm>
            <a:off x="6126480" y="10972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F4630"/>
          </a:solidFill>
          <a:ln w="9525">
            <a:solidFill>
              <a:srgbClr val="2F6B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280160"/>
            <a:ext cx="411480" cy="411480"/>
          </a:xfrm>
          <a:prstGeom prst="ellipse">
            <a:avLst/>
          </a:prstGeom>
          <a:solidFill>
            <a:srgbClr val="D9442B"/>
          </a:solidFill>
          <a:ln w="12700">
            <a:solidFill>
              <a:srgbClr val="D944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37360"/>
            <a:ext cx="24460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IN" sz="1600" b="1" u="sng" dirty="0">
                <a:solidFill>
                  <a:schemeClr val="bg1"/>
                </a:solidFill>
              </a:rPr>
              <a:t>Key Takeaway: </a:t>
            </a:r>
            <a:r>
              <a:rPr lang="en-US" sz="1400" dirty="0">
                <a:solidFill>
                  <a:schemeClr val="bg1"/>
                </a:solidFill>
              </a:rPr>
              <a:t>Augmentation helps when a model overfits or faces shift. Test it where it should matter.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rial Rounded MT Bold" panose="020F0704030504030204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000" dirty="0">
              <a:latin typeface="Arial Rounded MT Bold" panose="020F070403050403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DCCB"/>
                </a:solidFill>
              </a:rPr>
              <a:t>Thank you for your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f Blight">
  <a:themeElements>
    <a:clrScheme name="Leaf Blight">
      <a:dk1>
        <a:srgbClr val="1E2A22"/>
      </a:dk1>
      <a:lt1>
        <a:srgbClr val="FFFFFF"/>
      </a:lt1>
      <a:dk2>
        <a:srgbClr val="14301F"/>
      </a:dk2>
      <a:lt2>
        <a:srgbClr val="F4F7F2"/>
      </a:lt2>
      <a:accent1>
        <a:srgbClr val="2F6B3F"/>
      </a:accent1>
      <a:accent2>
        <a:srgbClr val="D9442B"/>
      </a:accent2>
      <a:accent3>
        <a:srgbClr val="E0A030"/>
      </a:accent3>
      <a:accent4>
        <a:srgbClr val="3E8E55"/>
      </a:accent4>
      <a:accent5>
        <a:srgbClr val="B83A2A"/>
      </a:accent5>
      <a:accent6>
        <a:srgbClr val="5E6B62"/>
      </a:accent6>
      <a:hlink>
        <a:srgbClr val="2F6B3F"/>
      </a:hlink>
      <a:folHlink>
        <a:srgbClr val="5E6B62"/>
      </a:folHlink>
    </a:clrScheme>
    <a:fontScheme name="Leaf B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669</Words>
  <Application>Microsoft Office PowerPoint</Application>
  <PresentationFormat>On-screen Show (16:9)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Unicode MS</vt:lpstr>
      <vt:lpstr>Arial</vt:lpstr>
      <vt:lpstr>Arial Rounded MT Bold</vt:lpstr>
      <vt:lpstr>Calibri</vt:lpstr>
      <vt:lpstr>Cambria</vt:lpstr>
      <vt:lpstr>Leaf Blight</vt:lpstr>
      <vt:lpstr>PowerPoint Presentation</vt:lpstr>
      <vt:lpstr>Preface &amp; Objective</vt:lpstr>
      <vt:lpstr>Dataset: PlantVillage Tomato Subset</vt:lpstr>
      <vt:lpstr>Model Architecture &amp; Experiment Setup</vt:lpstr>
      <vt:lpstr>Results: Evaluation Metrics</vt:lpstr>
      <vt:lpstr>Training Dynamics</vt:lpstr>
      <vt:lpstr>Where the Augmented Model Makes Errors</vt:lpstr>
      <vt:lpstr>Error Analysis: Misclassified Leaves</vt:lpstr>
      <vt:lpstr>Why Augmentation Did Not Improve Results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Tomato Leaf Disease Classification</dc:title>
  <dc:subject>PptxGenJS Presentation</dc:subject>
  <dc:creator>PptxGenJS</dc:creator>
  <cp:lastModifiedBy>Sheersh Gupta</cp:lastModifiedBy>
  <cp:revision>1</cp:revision>
  <dcterms:created xsi:type="dcterms:W3CDTF">2026-10-06T12:07:11Z</dcterms:created>
  <dcterms:modified xsi:type="dcterms:W3CDTF">2026-10-08T07:18:55Z</dcterms:modified>
</cp:coreProperties>
</file>